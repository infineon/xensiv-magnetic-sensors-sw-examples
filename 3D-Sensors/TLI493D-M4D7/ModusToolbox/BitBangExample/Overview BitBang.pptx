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heme/theme3.xml" ContentType="application/vnd.openxmlformats-officedocument.them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13"/>
  </p:notesMasterIdLst>
  <p:handoutMasterIdLst>
    <p:handoutMasterId r:id="rId14"/>
  </p:handoutMasterIdLst>
  <p:sldIdLst>
    <p:sldId id="267" r:id="rId6"/>
    <p:sldId id="268" r:id="rId7"/>
    <p:sldId id="258" r:id="rId8"/>
    <p:sldId id="259" r:id="rId9"/>
    <p:sldId id="270" r:id="rId10"/>
    <p:sldId id="269" r:id="rId11"/>
    <p:sldId id="257" r:id="rId12"/>
  </p:sldIdLst>
  <p:sldSz cx="12192000" cy="6858000"/>
  <p:notesSz cx="7099300" cy="10234613"/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96" autoAdjust="0"/>
  </p:normalViewPr>
  <p:slideViewPr>
    <p:cSldViewPr snapToObjects="1" showGuides="1">
      <p:cViewPr varScale="1">
        <p:scale>
          <a:sx n="102" d="100"/>
          <a:sy n="102" d="100"/>
        </p:scale>
        <p:origin x="912" y="1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theme" Target="../theme/theme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13 Okt 2026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image" Target="../media/image5.png"/><Relationship Id="rId2" Type="http://schemas.openxmlformats.org/officeDocument/2006/relationships/tags" Target="../tags/tag194.xml"/><Relationship Id="rId1" Type="http://schemas.openxmlformats.org/officeDocument/2006/relationships/theme" Target="../theme/theme2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13 Okt 2026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887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613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05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241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973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457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3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 Okt 2026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 ft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ineon.com/assets/row/public/documents/30/44/infineon-kit-xmc14-2go-usermanual-en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589B28-D26E-44F4-8C62-FEE4AAED4A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FB27639-D1FE-4EB7-81D0-019FC186F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B1C68C-D054-4F8D-AA7A-F778CCFFF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 </a:t>
            </a:r>
            <a:r>
              <a:rPr lang="en-US" dirty="0" err="1"/>
              <a:t>BitBang</a:t>
            </a:r>
            <a:r>
              <a:rPr lang="en-US" dirty="0"/>
              <a:t> and interface detection</a:t>
            </a:r>
          </a:p>
        </p:txBody>
      </p:sp>
    </p:spTree>
    <p:extLst>
      <p:ext uri="{BB962C8B-B14F-4D97-AF65-F5344CB8AC3E}">
        <p14:creationId xmlns:p14="http://schemas.microsoft.com/office/powerpoint/2010/main" val="91370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EF26-51B8-C483-8734-DEF4B801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BitBang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50D39-40C1-3BAB-4A6B-929512D9F9FF}"/>
              </a:ext>
            </a:extLst>
          </p:cNvPr>
          <p:cNvSpPr txBox="1"/>
          <p:nvPr/>
        </p:nvSpPr>
        <p:spPr bwMode="auto">
          <a:xfrm>
            <a:off x="407368" y="1412776"/>
            <a:ext cx="11377264" cy="252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2000" b="1" dirty="0"/>
              <a:t>A software serial port (UART) for XMC1400 microcontrollers</a:t>
            </a:r>
            <a:r>
              <a:rPr lang="en-US" sz="1800" b="1" dirty="0"/>
              <a:t>.</a:t>
            </a:r>
          </a:p>
          <a:p>
            <a:endParaRPr lang="en-US" sz="1800" dirty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800" dirty="0"/>
              <a:t>Normally a chip has a hardware UART peripheral to send/receive serial data.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en-US" sz="1800" dirty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800" dirty="0" err="1"/>
              <a:t>BitBang</a:t>
            </a:r>
            <a:r>
              <a:rPr lang="en-US" sz="1800" dirty="0"/>
              <a:t> does the same thing </a:t>
            </a:r>
            <a:r>
              <a:rPr lang="en-US" sz="1800" b="1" dirty="0"/>
              <a:t>purely in software</a:t>
            </a:r>
            <a:r>
              <a:rPr lang="en-US" sz="1800" dirty="0"/>
              <a:t>, by switching GPIO pins on and off with precise timing.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en-US" sz="1800" dirty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800" dirty="0"/>
              <a:t>Benefit: you can add an extra serial port on </a:t>
            </a:r>
            <a:r>
              <a:rPr lang="en-US" sz="1800" b="1" dirty="0"/>
              <a:t>any two spare pins</a:t>
            </a:r>
            <a:r>
              <a:rPr lang="en-US" sz="1800" dirty="0"/>
              <a:t>, even when no hardware UART is free.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en-US" sz="1800" dirty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en-US" sz="1800" dirty="0"/>
              <a:t>Cost: it keeps the CPU busy while sending/receiving (blocking), and timing must be tuned.</a:t>
            </a:r>
          </a:p>
        </p:txBody>
      </p:sp>
    </p:spTree>
    <p:extLst>
      <p:ext uri="{BB962C8B-B14F-4D97-AF65-F5344CB8AC3E}">
        <p14:creationId xmlns:p14="http://schemas.microsoft.com/office/powerpoint/2010/main" val="188684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9A08-B983-492B-BF60-186DB105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Hardware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50D9A-BA38-E9C4-6EB3-528AA14CD2F3}"/>
              </a:ext>
            </a:extLst>
          </p:cNvPr>
          <p:cNvSpPr txBox="1"/>
          <p:nvPr/>
        </p:nvSpPr>
        <p:spPr bwMode="auto">
          <a:xfrm>
            <a:off x="407368" y="1124744"/>
            <a:ext cx="11521280" cy="5177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kern="0" dirty="0">
                <a:latin typeface="+mn-lt"/>
              </a:rPr>
              <a:t>KIT_XMC14_2GO </a:t>
            </a:r>
            <a:br>
              <a:rPr lang="en-US" sz="1800" kern="0" dirty="0">
                <a:latin typeface="+mn-lt"/>
              </a:rPr>
            </a:br>
            <a:r>
              <a:rPr lang="en-US" sz="1800" kern="0" dirty="0">
                <a:latin typeface="+mn-lt"/>
              </a:rPr>
              <a:t>User manual: Infineon </a:t>
            </a:r>
            <a:r>
              <a:rPr lang="en-US" sz="1800" kern="0" dirty="0">
                <a:latin typeface="+mn-lt"/>
                <a:hlinkClick r:id="rId3"/>
              </a:rPr>
              <a:t>KIT_XMC14_2GO User Manual (PDF)</a:t>
            </a:r>
            <a:endParaRPr lang="en-US" sz="1800" kern="0" dirty="0">
              <a:latin typeface="+mn-lt"/>
            </a:endParaRPr>
          </a:p>
          <a:p>
            <a:r>
              <a:rPr lang="en-US" sz="1800" kern="0" dirty="0">
                <a:latin typeface="+mn-lt"/>
              </a:rPr>
              <a:t>	</a:t>
            </a:r>
            <a:r>
              <a:rPr lang="en-US" sz="1800" kern="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en-US" sz="1800" kern="0" dirty="0">
                <a:latin typeface="+mn-lt"/>
              </a:rPr>
              <a:t>Must be flashed with the provided firmware before use.</a:t>
            </a:r>
            <a:br>
              <a:rPr lang="en-US" sz="1800" kern="0" dirty="0">
                <a:latin typeface="+mn-lt"/>
              </a:rPr>
            </a:br>
            <a:endParaRPr lang="en-US" sz="1800" kern="0" dirty="0">
              <a:latin typeface="+mn-lt"/>
            </a:endParaRP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kern="0" dirty="0">
                <a:latin typeface="+mn-lt"/>
              </a:rPr>
              <a:t>TLI sensor</a:t>
            </a:r>
            <a:br>
              <a:rPr lang="en-US" sz="1800" kern="0" dirty="0">
                <a:latin typeface="+mn-lt"/>
              </a:rPr>
            </a:br>
            <a:r>
              <a:rPr lang="en-US" sz="1800" kern="0" dirty="0">
                <a:latin typeface="+mn-lt"/>
              </a:rPr>
              <a:t>Connections: 3V3</a:t>
            </a:r>
            <a:r>
              <a:rPr lang="en-US" sz="1800" kern="0" dirty="0">
                <a:latin typeface="+mn-lt"/>
                <a:sym typeface="Wingdings" panose="05000000000000000000" pitchFamily="2" charset="2"/>
              </a:rPr>
              <a:t></a:t>
            </a:r>
            <a:r>
              <a:rPr lang="en-US" sz="1800" kern="0" dirty="0">
                <a:latin typeface="+mn-lt"/>
              </a:rPr>
              <a:t>3V3, GND</a:t>
            </a:r>
            <a:r>
              <a:rPr lang="en-US" sz="1800" kern="0" dirty="0">
                <a:latin typeface="+mn-lt"/>
                <a:sym typeface="Wingdings" panose="05000000000000000000" pitchFamily="2" charset="2"/>
              </a:rPr>
              <a:t>GND, Board RX  Sensor TX, Board TX  Sensor RX</a:t>
            </a:r>
            <a:endParaRPr lang="en-US" sz="1800" kern="0" dirty="0">
              <a:latin typeface="+mn-lt"/>
            </a:endParaRP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endParaRPr lang="en-US" sz="1800" kern="0" dirty="0">
              <a:latin typeface="+mn-lt"/>
            </a:endParaRP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kern="0" dirty="0">
                <a:latin typeface="+mn-lt"/>
              </a:rPr>
              <a:t>LED Indicators (status of the system):</a:t>
            </a: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endParaRPr lang="en-US" sz="1800" kern="0" dirty="0">
              <a:latin typeface="+mn-lt"/>
            </a:endParaRPr>
          </a:p>
          <a:p>
            <a:pPr marL="285750" indent="-28575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Char char="-"/>
            </a:pPr>
            <a:endParaRPr lang="en-US" sz="1800" kern="0" dirty="0">
              <a:latin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509D3B-8AA0-59DA-36CB-0611F237E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97032"/>
              </p:ext>
            </p:extLst>
          </p:nvPr>
        </p:nvGraphicFramePr>
        <p:xfrm>
          <a:off x="671873" y="3861048"/>
          <a:ext cx="10992270" cy="25300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64090">
                  <a:extLst>
                    <a:ext uri="{9D8B030D-6E8A-4147-A177-3AD203B41FA5}">
                      <a16:colId xmlns:a16="http://schemas.microsoft.com/office/drawing/2014/main" val="3508718628"/>
                    </a:ext>
                  </a:extLst>
                </a:gridCol>
                <a:gridCol w="2359628">
                  <a:extLst>
                    <a:ext uri="{9D8B030D-6E8A-4147-A177-3AD203B41FA5}">
                      <a16:colId xmlns:a16="http://schemas.microsoft.com/office/drawing/2014/main" val="2529963688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2359696"/>
                    </a:ext>
                  </a:extLst>
                </a:gridCol>
              </a:tblGrid>
              <a:tr h="387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LED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State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Meaning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86674619"/>
                  </a:ext>
                </a:extLst>
              </a:tr>
              <a:tr h="714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LED 1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Blinking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Board is sending the configured signal (working)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67049455"/>
                  </a:ext>
                </a:extLst>
              </a:tr>
              <a:tr h="714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LED 2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Off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Everything works — a valid reply was received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129544137"/>
                  </a:ext>
                </a:extLst>
              </a:tr>
              <a:tr h="714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LED 2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On (solid)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 signal received back from the sensor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59929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29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0B38-ED9A-4688-A544-CA41460ADE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bitbang.c</a:t>
            </a:r>
            <a:r>
              <a:rPr lang="en-US" dirty="0"/>
              <a:t> and </a:t>
            </a:r>
            <a:r>
              <a:rPr lang="en-US" dirty="0" err="1"/>
              <a:t>bitbang.h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Together they form a reusable software-UART library.</a:t>
            </a:r>
          </a:p>
          <a:p>
            <a:r>
              <a:rPr lang="en-US" dirty="0"/>
              <a:t>The only files required to integrate the library into another project</a:t>
            </a:r>
          </a:p>
          <a:p>
            <a:r>
              <a:rPr lang="en-US" dirty="0" err="1"/>
              <a:t>bitbang.c</a:t>
            </a:r>
            <a:r>
              <a:rPr lang="en-US" dirty="0"/>
              <a:t> defines the public API, </a:t>
            </a:r>
            <a:r>
              <a:rPr lang="en-US" dirty="0" err="1"/>
              <a:t>bitbang.c</a:t>
            </a:r>
            <a:r>
              <a:rPr lang="en-US" dirty="0"/>
              <a:t> contains the implementation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main.c</a:t>
            </a:r>
            <a:r>
              <a:rPr lang="en-US" dirty="0"/>
              <a:t> and the remaining flies: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Illustrates how to configure and call the library.</a:t>
            </a:r>
          </a:p>
          <a:p>
            <a:r>
              <a:rPr lang="en-US" dirty="0"/>
              <a:t>Provided for reference, not required for integration.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142A3-3E18-4302-85FC-39EF0216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</p:spTree>
    <p:extLst>
      <p:ext uri="{BB962C8B-B14F-4D97-AF65-F5344CB8AC3E}">
        <p14:creationId xmlns:p14="http://schemas.microsoft.com/office/powerpoint/2010/main" val="162567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852585-F3FB-D825-CF0F-6EFC55F359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4797152"/>
            <a:ext cx="11520000" cy="15845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image shows the logic analyzer capture that originates from the bit-bang </a:t>
            </a:r>
            <a:r>
              <a:rPr lang="en-US" dirty="0" err="1"/>
              <a:t>main.c</a:t>
            </a:r>
            <a:r>
              <a:rPr lang="en-US" dirty="0"/>
              <a:t> which also includes the start up routine marked in light red.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4E8F9D-CA5E-9B2F-274D-910B33BC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the logic analyzer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FB2CD-1D63-BC01-8D0D-99F29B161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8" y="1556792"/>
            <a:ext cx="11519440" cy="296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19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FB48-B608-EE32-F55D-E9E1BA48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4DC75-A453-DFF5-24FA-E2FDA31D8F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799" y="1268414"/>
            <a:ext cx="8713529" cy="511333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Connect the I2C_SCL and UART_MCU_TX (</a:t>
            </a:r>
            <a:r>
              <a:rPr lang="en-US" dirty="0" err="1"/>
              <a:t>Sensor_RX</a:t>
            </a:r>
            <a:r>
              <a:rPr lang="en-US" dirty="0"/>
              <a:t>) from now on called 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 the I2C_SDA and UART_MCU_RX (</a:t>
            </a:r>
            <a:r>
              <a:rPr lang="en-US" dirty="0" err="1"/>
              <a:t>Sensor_TX</a:t>
            </a:r>
            <a:r>
              <a:rPr lang="en-US" dirty="0"/>
              <a:t>) from now on called B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order to detect what type of sensor is populated, configure A as push-pull high; and B as input with internal pull-up.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Send on A </a:t>
            </a:r>
            <a:r>
              <a:rPr lang="en-US" dirty="0" err="1"/>
              <a:t>a</a:t>
            </a:r>
            <a:r>
              <a:rPr lang="en-US" dirty="0"/>
              <a:t> low pulse e.g. 4 µs low time and monitor on B if the voltage follows. If testing with multiple low pulses, maintain a break of min 400 µs between pulses. (timeout)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B follows the pulse behavior of A, a UART/DART sensor is connected.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B does not follow the pulse behavior of A, try sending a I2C command on the expected addresses and evaluate if the I2C commands get acknowledged.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25303-588B-92D0-92D7-6660A39C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probe if the connected sensor is UART/DART or I2C if pads are shared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228A9-E46C-3750-7A4C-787A7C95A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042559" y="1356874"/>
            <a:ext cx="2892417" cy="273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81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135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1E115DF3-41F0-4647-B0A5-8A317E6D094E}" vid="{137F0F39-D844-4AA9-B871-823A03F108D0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268</TotalTime>
  <Words>573</Words>
  <Application>Microsoft Office PowerPoint</Application>
  <PresentationFormat>Widescreen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Symbol</vt:lpstr>
      <vt:lpstr>Infineon 16:9</vt:lpstr>
      <vt:lpstr>Overview BitBang and interface detection</vt:lpstr>
      <vt:lpstr>What is BitBang?</vt:lpstr>
      <vt:lpstr>Used Hardware </vt:lpstr>
      <vt:lpstr>Overview </vt:lpstr>
      <vt:lpstr>Example of the logic analyzer</vt:lpstr>
      <vt:lpstr>How to probe if the connected sensor is UART/DART or I2C if pads are shared 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Bardelle Stephan Jannis (ES MMS MAG TM DS)</dc:creator>
  <cp:lastModifiedBy>Valtl Jakob (ES MMS MAG TM PDAMUC)</cp:lastModifiedBy>
  <cp:revision>7</cp:revision>
  <dcterms:created xsi:type="dcterms:W3CDTF">2026-07-06T09:05:03Z</dcterms:created>
  <dcterms:modified xsi:type="dcterms:W3CDTF">2026-10-13T13:25:54Z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2026-10-13T09:58:58Z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2026-10-13 09:58:59Z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39ae8a47-3836-45d9-b4ef-6111a225baa2</vt:lpwstr>
  </property>
  <property fmtid="{D5CDD505-2E9C-101B-9397-08002B2CF9AE}" pid="28" name="MSIP_Label_a15a25aa-e944-415d-b7a7-40f6b9180b6b_ContentBits">
    <vt:lpwstr>0</vt:lpwstr>
  </property>
</Properties>
</file>